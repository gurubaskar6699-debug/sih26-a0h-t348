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F2B86A-1305-4723-9AD7-B788E076C690}">
  <a:tblStyle styleId="{8DF2B86A-1305-4723-9AD7-B788E076C6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nature.com/articles/s41746-025-01597-z?utm_source=chatgpt.com" TargetMode="External"/><Relationship Id="rId11" Type="http://schemas.openxmlformats.org/officeDocument/2006/relationships/hyperlink" Target="https://www.nature.com/articles/s41525-025-00537-w?utm_source=chatgpt.com" TargetMode="External"/><Relationship Id="rId10" Type="http://schemas.openxmlformats.org/officeDocument/2006/relationships/hyperlink" Target="https://www.nature.com/articles/s41525-025-00537-w?utm_source=chatgpt.com" TargetMode="External"/><Relationship Id="rId9" Type="http://schemas.openxmlformats.org/officeDocument/2006/relationships/hyperlink" Target="https://link.springer.com/article/10.1007/s10462-025-11381-w?utm_source=chatgpt.com" TargetMode="External"/><Relationship Id="rId5" Type="http://schemas.openxmlformats.org/officeDocument/2006/relationships/hyperlink" Target="https://www.nature.com/articles/s41746-025-01597-z?utm_source=chatgpt.com" TargetMode="External"/><Relationship Id="rId6" Type="http://schemas.openxmlformats.org/officeDocument/2006/relationships/hyperlink" Target="https://www.nature.com/articles/s41598-024-55991-w?utm_source=chatgpt.com" TargetMode="External"/><Relationship Id="rId7" Type="http://schemas.openxmlformats.org/officeDocument/2006/relationships/hyperlink" Target="https://www.nature.com/articles/s41598-024-55991-w?utm_source=chatgpt.com" TargetMode="External"/><Relationship Id="rId8" Type="http://schemas.openxmlformats.org/officeDocument/2006/relationships/hyperlink" Target="https://link.springer.com/article/10.1007/s10462-025-11381-w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   </a:t>
            </a:r>
            <a:r>
              <a:rPr b="1" lang="en-US" sz="34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34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71300" y="1948000"/>
            <a:ext cx="59247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 SIH26139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 – Hybrid Quantum Machine Learning Platform for Early Disease Detection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– MedTech / BioTech / HealthTech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 – Software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– SIH26-A0H-T348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– Agentic Coven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94" name="Google Shape;94;p13"/>
          <p:cNvSpPr/>
          <p:nvPr/>
        </p:nvSpPr>
        <p:spPr>
          <a:xfrm>
            <a:off x="329775" y="252250"/>
            <a:ext cx="1556700" cy="8115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-1" y="2064921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0" y="908875"/>
            <a:ext cx="3894900" cy="5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Proposed Solution:</a:t>
            </a:r>
            <a:endParaRPr b="1" sz="18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hybrid QML framework that incorporates classical preprocessing and feature extraction together with quantum algorithms to make early predictions of diseases.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framework allows users to import biomedical datasets, preprocess them, extract features from them, train hybrid QML models, make predictions, and explain the models as well.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How it solves the problem:</a:t>
            </a:r>
            <a:endParaRPr b="1" sz="15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Performs well on complex biomedical data by using the techniques of preprocessing, normalization, and noise reduction.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Reduces the high-dimensional biomedical data using the techniques of feature and dimensionality reductions.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Incorporates quantum machine learning algorithms such as VQC, QSVM, and QNN.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Makes predictions of diseases at an early stage with quantifiable measures of performance and confidence.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Explains the decisions made by QML models with the technique of feature importance and explainable AI.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3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Benchmarks the performance of QML algorithms with the performance of classical ML algorithms.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700050" y="18630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Times New Roman"/>
                <a:ea typeface="Times New Roman"/>
                <a:cs typeface="Times New Roman"/>
                <a:sym typeface="Times New Roman"/>
              </a:rPr>
              <a:t>Q-DIAGNOSE 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894900" y="1063825"/>
            <a:ext cx="5019900" cy="5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Features:</a:t>
            </a:r>
            <a:endParaRPr b="1" sz="24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NGEST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and handle publicly available biomedical datasets.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Clean, normalize, and balance biomedical datasets.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</a:t>
            </a:r>
            <a:endParaRPr b="1" sz="959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 features, remove redundant features, and select quantum-compatible features based on the available qubit limit 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</a:t>
            </a: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redundant</a:t>
            </a: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 and select quantum-compatible features based on available qubit limit.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UANTUM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 selected features and prepare quantum circuits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 </a:t>
            </a:r>
            <a:endParaRPr b="1" sz="959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candidate classical and quantum ML models using validation metrics and select the best-performing model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 pattern detection and prediction.</a:t>
            </a:r>
            <a:endParaRPr b="1" sz="95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of important features used in predictions.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</a:t>
            </a:r>
            <a:endParaRPr b="1" sz="959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classical ML and hybrid QML algorithm</a:t>
            </a:r>
            <a:r>
              <a:rPr b="1" lang="en-US" sz="959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</a:t>
            </a:r>
            <a:endParaRPr b="1" sz="959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83"/>
              </a:spcBef>
              <a:spcAft>
                <a:spcPts val="1083"/>
              </a:spcAft>
              <a:buNone/>
            </a:pPr>
            <a:r>
              <a:t/>
            </a:r>
            <a:endParaRPr b="1" sz="959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914950" y="1063825"/>
            <a:ext cx="34434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Innovation &amp; Uniqueness: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Unified Workflow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Ingest → Preprocess → Rank</a:t>
            </a:r>
            <a:r>
              <a:rPr lang="en-US" sz="1600">
                <a:solidFill>
                  <a:schemeClr val="dk1"/>
                </a:solidFill>
              </a:rPr>
              <a:t>→</a:t>
            </a:r>
            <a:r>
              <a:rPr lang="en-US" sz="1600"/>
              <a:t>Select →Encode</a:t>
            </a:r>
            <a:r>
              <a:rPr lang="en-US" sz="1600">
                <a:solidFill>
                  <a:schemeClr val="dk1"/>
                </a:solidFill>
              </a:rPr>
              <a:t>→Model Selection</a:t>
            </a:r>
            <a:r>
              <a:rPr lang="en-US" sz="1600"/>
              <a:t> → Predict → Explain → Benchmark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Hybrid quantum-classical disease detection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Adapative quantum-aware feature selection based on feature relevance and </a:t>
            </a:r>
            <a:r>
              <a:rPr lang="en-US" sz="1600"/>
              <a:t>available</a:t>
            </a:r>
            <a:r>
              <a:rPr lang="en-US" sz="1600"/>
              <a:t> qubit budget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Performance-based selection of the most suitable classical or quantum ML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Quantum-ready architecture for simulators and future hardware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Feature optimization to address limited qubit availability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descr="Your startup LOGO" id="108" name="Google Shape;108;p14"/>
          <p:cNvSpPr/>
          <p:nvPr/>
        </p:nvSpPr>
        <p:spPr>
          <a:xfrm>
            <a:off x="353350" y="126900"/>
            <a:ext cx="1556700" cy="8115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266000" y="938388"/>
            <a:ext cx="5239500" cy="59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2"/>
                </a:solidFill>
              </a:rPr>
              <a:t>Final Tech Stack:</a:t>
            </a:r>
            <a:endParaRPr b="1" sz="17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Frontend:</a:t>
            </a:r>
            <a:r>
              <a:rPr lang="en-US" sz="1500">
                <a:solidFill>
                  <a:schemeClr val="dk1"/>
                </a:solidFill>
              </a:rPr>
              <a:t> React.js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Backend:</a:t>
            </a:r>
            <a:r>
              <a:rPr lang="en-US" sz="1500">
                <a:solidFill>
                  <a:schemeClr val="dk1"/>
                </a:solidFill>
              </a:rPr>
              <a:t> Python + FastAPI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Classical ML:</a:t>
            </a:r>
            <a:r>
              <a:rPr lang="en-US" sz="1500">
                <a:solidFill>
                  <a:schemeClr val="dk1"/>
                </a:solidFill>
              </a:rPr>
              <a:t> Scikit-learn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Quantum ML:</a:t>
            </a:r>
            <a:r>
              <a:rPr lang="en-US" sz="1500">
                <a:solidFill>
                  <a:schemeClr val="dk1"/>
                </a:solidFill>
              </a:rPr>
              <a:t> Qiskit + PennyLane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QML Models:</a:t>
            </a:r>
            <a:r>
              <a:rPr lang="en-US" sz="1500">
                <a:solidFill>
                  <a:schemeClr val="dk1"/>
                </a:solidFill>
              </a:rPr>
              <a:t> VQC / Quantum Kernel / QNN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Explainable AI:</a:t>
            </a:r>
            <a:r>
              <a:rPr lang="en-US" sz="1500">
                <a:solidFill>
                  <a:schemeClr val="dk1"/>
                </a:solidFill>
              </a:rPr>
              <a:t> SHAP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Database:</a:t>
            </a:r>
            <a:r>
              <a:rPr lang="en-US" sz="1500">
                <a:solidFill>
                  <a:schemeClr val="dk1"/>
                </a:solidFill>
              </a:rPr>
              <a:t> MongoDB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Development:</a:t>
            </a:r>
            <a:r>
              <a:rPr lang="en-US" sz="1500">
                <a:solidFill>
                  <a:schemeClr val="dk1"/>
                </a:solidFill>
              </a:rPr>
              <a:t> VS Code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2"/>
                </a:solidFill>
              </a:rPr>
              <a:t>Hybrid AI Pipeline: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Data Ingestion → Preprocessing → Feature Engineering → Feature Ranking →Redundancy Removal</a:t>
            </a:r>
            <a:r>
              <a:rPr b="1" lang="en-US" sz="1500">
                <a:solidFill>
                  <a:schemeClr val="dk1"/>
                </a:solidFill>
              </a:rPr>
              <a:t>→ </a:t>
            </a:r>
            <a:r>
              <a:rPr b="1" lang="en-US" sz="1500">
                <a:solidFill>
                  <a:schemeClr val="dk1"/>
                </a:solidFill>
              </a:rPr>
              <a:t>  Quantum-Aware Feature Selection </a:t>
            </a:r>
            <a:r>
              <a:rPr b="1" lang="en-US" sz="1500">
                <a:solidFill>
                  <a:schemeClr val="dk1"/>
                </a:solidFill>
              </a:rPr>
              <a:t> → </a:t>
            </a:r>
            <a:r>
              <a:rPr b="1" lang="en-US" sz="1500">
                <a:solidFill>
                  <a:schemeClr val="dk1"/>
                </a:solidFill>
              </a:rPr>
              <a:t>Qubit-Limit Check </a:t>
            </a:r>
            <a:r>
              <a:rPr b="1" lang="en-US" sz="1500">
                <a:solidFill>
                  <a:schemeClr val="dk1"/>
                </a:solidFill>
              </a:rPr>
              <a:t> → </a:t>
            </a:r>
            <a:r>
              <a:rPr b="1" lang="en-US" sz="1500">
                <a:solidFill>
                  <a:schemeClr val="dk1"/>
                </a:solidFill>
              </a:rPr>
              <a:t>Dimensionality Reduction → Quantum Feature Mapping → </a:t>
            </a:r>
            <a:r>
              <a:rPr b="1" lang="en-US" sz="1500">
                <a:solidFill>
                  <a:schemeClr val="dk1"/>
                </a:solidFill>
              </a:rPr>
              <a:t>Quantum Feature Mapping → Classical + Quantum Model Training → Performance Evaluation →Best Model Selection </a:t>
            </a:r>
            <a:r>
              <a:rPr b="1" lang="en-US" sz="1500">
                <a:solidFill>
                  <a:schemeClr val="dk1"/>
                </a:solidFill>
              </a:rPr>
              <a:t> → Prediction → XAI → Benchmarking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000" y="1247775"/>
            <a:ext cx="6435601" cy="4265884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21" name="Google Shape;121;p15"/>
          <p:cNvSpPr/>
          <p:nvPr/>
        </p:nvSpPr>
        <p:spPr>
          <a:xfrm>
            <a:off x="353350" y="126900"/>
            <a:ext cx="1556700" cy="8115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Agentic Coven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>
            <p:ph type="title"/>
          </p:nvPr>
        </p:nvSpPr>
        <p:spPr>
          <a:xfrm>
            <a:off x="279650" y="-388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17850" y="911050"/>
            <a:ext cx="5978100" cy="3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</a:t>
            </a:r>
            <a:endParaRPr b="1"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+ FastAPI backend with React-based web interface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public/open biomedical datasets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on standard systems using quantum simulators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physical quantum hardware required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Qiskit and PennyLane support hybrid QML development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ML provides practical baseline models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enables structured data and result storage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" name="Google Shape;133;p16"/>
          <p:cNvCxnSpPr/>
          <p:nvPr/>
        </p:nvCxnSpPr>
        <p:spPr>
          <a:xfrm>
            <a:off x="6214800" y="1104175"/>
            <a:ext cx="70800" cy="2851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6"/>
          <p:cNvSpPr txBox="1"/>
          <p:nvPr/>
        </p:nvSpPr>
        <p:spPr>
          <a:xfrm>
            <a:off x="6669525" y="987175"/>
            <a:ext cx="5360400" cy="31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Viability</a:t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solution using simulators and open-source tools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hybrid quantum-classical architecture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Applicable to cancer, cardiovascular and neurological datasets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enables interpretable model predictions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comparison between QML and classical ML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extended to near-term quantum hardware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researchers, healthcare applications and ML developers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85325" y="4183300"/>
            <a:ext cx="92145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288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                                                      </a:t>
            </a:r>
            <a:r>
              <a:rPr b="1" lang="en-US" sz="15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chemeClr val="dk2"/>
                </a:solidFill>
              </a:rPr>
              <a:t>Challenges</a:t>
            </a:r>
            <a:endParaRPr b="1" sz="24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dimensionality and noise in biomedical data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quantum hardware and simulator scalability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Selecting suitable features for quantum encoding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effective quantum feature maps and QML models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290400" y="1304675"/>
            <a:ext cx="3523200" cy="5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Audience</a:t>
            </a:r>
            <a:endParaRPr b="1" sz="13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Professionals</a:t>
            </a:r>
            <a:b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doctors with data-driven disease prediction and analysis.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Researchers</a:t>
            </a:r>
            <a:b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researchers evaluate new quantum-enhanced approaches for healthcare.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Scientists</a:t>
            </a:r>
            <a:b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platform to develop, test and benchmark ML and QML models.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3801875" y="1291775"/>
            <a:ext cx="3872400" cy="54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 b="1"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Disease Detection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Identifies patterns in biomedical data that can support earlier diagnosis.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Medical Analysis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Handles complex and high-dimensional biomedical data using hybrid AI.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Predictions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SHAP to identify the features influencing model predictions.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454625" y="1452388"/>
            <a:ext cx="4575300" cy="4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Benefits</a:t>
            </a:r>
            <a:endParaRPr b="1"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Intelligence</a:t>
            </a:r>
            <a:b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classical ML with quantum-enhanced learning models.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Development</a:t>
            </a:r>
            <a:b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quantum simulators, reducing the need for physical quantum hardware.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Benchmarking</a:t>
            </a:r>
            <a:b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Compares QML models with classical models using key healthcare metrics.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Platform</a:t>
            </a:r>
            <a:b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extended to different diseases and biomedical datasets.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8"/>
          <p:cNvGraphicFramePr/>
          <p:nvPr/>
        </p:nvGraphicFramePr>
        <p:xfrm>
          <a:off x="184325" y="86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{8DF2B86A-1305-4723-9AD7-B788E076C690}</a:tableStyleId>
              </a:tblPr>
              <a:tblGrid>
                <a:gridCol w="3372200"/>
                <a:gridCol w="3372200"/>
              </a:tblGrid>
              <a:tr h="38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Deliverable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Expected Output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Pipeline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ingestion, preprocessing &amp; feature engineering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 Models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Classical ML + VQC / Quantum Kernel / QNN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Platform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 + FastAPI web application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 Module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Disease risk classification and results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XAI Module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SHAP-based feature importance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Benchmarking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QML vs Classical ML performance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MongoDB for datasets and results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Documentation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 guide, methodology and results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Working end-to-end disease detection platform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18"/>
          <p:cNvSpPr txBox="1"/>
          <p:nvPr/>
        </p:nvSpPr>
        <p:spPr>
          <a:xfrm>
            <a:off x="6928700" y="1150950"/>
            <a:ext cx="4933200" cy="5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Gupta et al.,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systematic review of quantum machine learning for digital health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npj Digital Medicine, 2025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Article</a:t>
            </a:r>
            <a:endParaRPr sz="16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Babu et al.,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Revolutionizing heart disease prediction with quantum-enhanced machine learning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Reports, 2024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Article</a:t>
            </a:r>
            <a:endParaRPr sz="16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et al.,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Coalition of explainable artificial intelligence and quantum computing in precision medicine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CSBJ, 2025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Article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Bukkarayasamudram et al.,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Quantum computing revolution in healthcare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Review, 2025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Article</a:t>
            </a:r>
            <a:endParaRPr sz="16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Nassir et al.,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Quantum computing and the implementation of precision medicine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npj Genomic Medicine, 2025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Article</a:t>
            </a:r>
            <a:endParaRPr sz="16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